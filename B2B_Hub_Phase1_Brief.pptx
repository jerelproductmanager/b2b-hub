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1463040" cy="50292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B&amp;H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HUB MODERNIZATION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Brief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 ·  Project Management  ·  Architecture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2560320" cy="347472"/>
          </a:xfrm>
          <a:prstGeom prst="rect">
            <a:avLst>
              <a:gd name="adj" fmla="val 13158"/>
            </a:avLst>
          </a:prstGeom>
          <a:solidFill>
            <a:srgbClr val="99000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794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Weblogic → Aperture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3794760"/>
            <a:ext cx="2560320" cy="347472"/>
          </a:xfrm>
          <a:prstGeom prst="rect">
            <a:avLst>
              <a:gd name="adj" fmla="val 13158"/>
            </a:avLst>
          </a:prstGeom>
          <a:solidFill>
            <a:srgbClr val="99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3794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→ Sign-Up Centered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3794760"/>
            <a:ext cx="2560320" cy="347472"/>
          </a:xfrm>
          <a:prstGeom prst="rect">
            <a:avLst>
              <a:gd name="adj" fmla="val 13158"/>
            </a:avLst>
          </a:prstGeom>
          <a:solidFill>
            <a:srgbClr val="99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3794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Content 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Simultaneous Transformations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not an incremental update — it's a coordinated platform and UX reset.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3840480" cy="5486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29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23042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Weblogic → Aperture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" y="2788920"/>
            <a:ext cx="3438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B2B Hub is migrating off Weblogic onto Aperture. Phase 1 deliverables are built on Aperture from day one — not patched onto the legacy stack.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Weblogic's hard-coded architecture is a root cause of content drift and operational bottlenecks. Aperture removes those constraints and makes the JSON content layer viable.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02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920240"/>
            <a:ext cx="3840480" cy="54864"/>
          </a:xfrm>
          <a:prstGeom prst="rect">
            <a:avLst/>
          </a:prstGeom>
          <a:solidFill>
            <a:srgbClr val="007AB8"/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2029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MODEL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47488" y="23042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Segment-Centered → Sign-Up Centered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47488" y="2999232"/>
            <a:ext cx="34381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was built as a browsing model — visitors navigate segments before finding a sign-up path. Phase 1 makes sign-up the primary CTA on entry.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qualification-first funnel collects org type, state, and contact info upfront. Cooperative contract options are revealed after qualification — reducing misrouting and support overhead.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Current Hub Isn't Working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54864" cy="1261872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98424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9659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Is Locked in Code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" y="233172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headline, logo, and contract listing is hard-coded. A single copy change requires a Jira ticket, dev time, QA, and a deployment cycle. Even a logo update can take months.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00600" y="187452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1874520"/>
            <a:ext cx="54864" cy="1261872"/>
          </a:xfrm>
          <a:prstGeom prst="rect">
            <a:avLst/>
          </a:prstGeom>
          <a:solidFill>
            <a:srgbClr val="007AB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98424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9659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Sign-Up Is Buried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46904" y="233172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browse segments and sub-pages before reaching a registration option. No contact info is captured upfront, creating misrouting and wasted rep time.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29184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291840"/>
            <a:ext cx="54864" cy="1261872"/>
          </a:xfrm>
          <a:prstGeom prst="rect">
            <a:avLst/>
          </a:prstGeom>
          <a:solidFill>
            <a:srgbClr val="3F9A5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40156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38328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Logic Is Hard-Coded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03504" y="374904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State-to-contract-to-portal routing is embedded in the codebase. Adding a new state, contract, or portal association requires a developer. No self-service path exists.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00600" y="329184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00600" y="3291840"/>
            <a:ext cx="54864" cy="1261872"/>
          </a:xfrm>
          <a:prstGeom prst="rect">
            <a:avLst/>
          </a:prstGeom>
          <a:solidFill>
            <a:srgbClr val="E6730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40156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338328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Weblogic Constrains Everything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946904" y="374904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platform makes CMS extensibility impractical. Every architectural improvement is bottlenecked by platform limitations that Aperture is designed to remove.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Strategic Pivots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3931920" cy="129844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64208"/>
            <a:ext cx="457200" cy="129844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556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Weblogic → Aperture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39696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 1 deliverables built on Aperture. No new work on Weblogic. Platform migration and hub modernization are coordinated, not sequential.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664208"/>
            <a:ext cx="3931920" cy="129844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0600" y="1664208"/>
            <a:ext cx="457200" cy="1298448"/>
          </a:xfrm>
          <a:prstGeom prst="rect">
            <a:avLst/>
          </a:prstGeom>
          <a:solidFill>
            <a:srgbClr val="007AB8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7556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 Browsing → Sign-Up First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2139696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is the hero CTA. Qualification-first funnel collects org type, state, and contact info before surfacing cooperative contracts or portal options.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3931920" cy="129844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127248"/>
            <a:ext cx="457200" cy="1298448"/>
          </a:xfrm>
          <a:prstGeom prst="rect">
            <a:avLst/>
          </a:prstGeom>
          <a:solidFill>
            <a:srgbClr val="3F9A5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21868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Hard-Coded → JSON Content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602736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hub, segment, and contract page content driven by JSON config. CMS admin panel enables the B2B team to publish changes without developer involvement.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127248"/>
            <a:ext cx="3931920" cy="129844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0600" y="3127248"/>
            <a:ext cx="457200" cy="1298448"/>
          </a:xfrm>
          <a:prstGeom prst="rect">
            <a:avLst/>
          </a:prstGeom>
          <a:solidFill>
            <a:srgbClr val="E673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321868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Routing → JSON-Managed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3602736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× segment × state routing logic moved from hard-coded to JSON-configurable. New associations added via CMS — no code change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TRANSFORMATION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Segment Browsing to Qualification-First Sign-Up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657600" cy="3474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Weblogic  ·  Segment-Centered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3657600" cy="40233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Hub landing page → browse 12 segment tiles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36576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706624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Click into segment page → read content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3657600" cy="40233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182112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Find sign-up link → start registration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36576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65760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D&amp;B verification (high failure rate, poor errors)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3657600" cy="40233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13308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Routing to portal — often wrong segment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3246120"/>
            <a:ext cx="502920" cy="5029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315968" y="3246120"/>
            <a:ext cx="502920" cy="502920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3246120"/>
            <a:ext cx="502920" cy="5029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029200" y="1783080"/>
            <a:ext cx="3657600" cy="347472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4" name="Text 20"/>
          <p:cNvSpPr/>
          <p:nvPr/>
        </p:nvSpPr>
        <p:spPr>
          <a:xfrm>
            <a:off x="5029200" y="1783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Aperture  ·  Sign-Up Centered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029200" y="2212848"/>
            <a:ext cx="3657600" cy="402336"/>
          </a:xfrm>
          <a:prstGeom prst="rect">
            <a:avLst/>
          </a:prstGeom>
          <a:solidFill>
            <a:srgbClr val="EFD8D5"/>
          </a:solidFill>
          <a:ln/>
        </p:spPr>
      </p:sp>
      <p:sp>
        <p:nvSpPr>
          <p:cNvPr id="26" name="Text 22"/>
          <p:cNvSpPr/>
          <p:nvPr/>
        </p:nvSpPr>
        <p:spPr>
          <a:xfrm>
            <a:off x="5138928" y="2231136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Hub landing → Sign-Up CTA is hero-level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29200" y="2688336"/>
            <a:ext cx="36576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/>
          <p:nvPr/>
        </p:nvSpPr>
        <p:spPr>
          <a:xfrm>
            <a:off x="5138928" y="2706624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Step 1: Org type + State (deduces segment)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29200" y="3163824"/>
            <a:ext cx="3657600" cy="402336"/>
          </a:xfrm>
          <a:prstGeom prst="rect">
            <a:avLst/>
          </a:prstGeom>
          <a:solidFill>
            <a:srgbClr val="EFD8D5"/>
          </a:solidFill>
          <a:ln/>
        </p:spPr>
      </p:sp>
      <p:sp>
        <p:nvSpPr>
          <p:cNvPr id="30" name="Text 26"/>
          <p:cNvSpPr/>
          <p:nvPr/>
        </p:nvSpPr>
        <p:spPr>
          <a:xfrm>
            <a:off x="5138928" y="3182112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Step 2: Contact info + optional B2C account link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029200" y="3639312"/>
            <a:ext cx="36576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5138928" y="365760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Step 3: Review → cooperative contracts revealed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29200" y="4114800"/>
            <a:ext cx="3657600" cy="402336"/>
          </a:xfrm>
          <a:prstGeom prst="rect">
            <a:avLst/>
          </a:prstGeom>
          <a:solidFill>
            <a:srgbClr val="EFD8D5"/>
          </a:solidFill>
          <a:ln/>
        </p:spPr>
      </p:sp>
      <p:sp>
        <p:nvSpPr>
          <p:cNvPr id="34" name="Text 30"/>
          <p:cNvSpPr/>
          <p:nvPr/>
        </p:nvSpPr>
        <p:spPr>
          <a:xfrm>
            <a:off x="5138928" y="413308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Account created → routed to correct portal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CONTENT LAYER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Replacing Hard-Code with Configurable JSON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content field and routing rule becomes editable — no dev ticket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9748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28800"/>
            <a:ext cx="2697480" cy="5486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28800"/>
            <a:ext cx="2697480" cy="38404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Hub &amp; Segment Pages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32257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Hero headline + subheadline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281635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Body copy + benefit bullets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33101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CTA labels + routing URLs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380390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FAQ items + SEO meta fields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1828800"/>
            <a:ext cx="269748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828800"/>
            <a:ext cx="2697480" cy="54864"/>
          </a:xfrm>
          <a:prstGeom prst="rect">
            <a:avLst/>
          </a:prstGeom>
          <a:solidFill>
            <a:srgbClr val="007AB8"/>
          </a:solidFill>
          <a:ln/>
        </p:spPr>
      </p:sp>
      <p:sp>
        <p:nvSpPr>
          <p:cNvPr id="19" name="Shape 17"/>
          <p:cNvSpPr/>
          <p:nvPr/>
        </p:nvSpPr>
        <p:spPr>
          <a:xfrm>
            <a:off x="3337560" y="1828800"/>
            <a:ext cx="2697480" cy="384048"/>
          </a:xfrm>
          <a:prstGeom prst="rect">
            <a:avLst/>
          </a:prstGeom>
          <a:solidFill>
            <a:srgbClr val="007AB8"/>
          </a:solidFill>
          <a:ln/>
        </p:spPr>
      </p:sp>
      <p:sp>
        <p:nvSpPr>
          <p:cNvPr id="20" name="Text 18"/>
          <p:cNvSpPr/>
          <p:nvPr/>
        </p:nvSpPr>
        <p:spPr>
          <a:xfrm>
            <a:off x="3447288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Pages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02152" y="232257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Contract name, logo, blurb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02152" y="281635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Contract number + eligibility states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02152" y="33101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Primary + secondary CTA URLs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02152" y="380390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Add/update without code change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1828800"/>
            <a:ext cx="269748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828800"/>
            <a:ext cx="2697480" cy="54864"/>
          </a:xfrm>
          <a:prstGeom prst="rect">
            <a:avLst/>
          </a:prstGeom>
          <a:solidFill>
            <a:srgbClr val="3F9A59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1828800"/>
            <a:ext cx="2697480" cy="384048"/>
          </a:xfrm>
          <a:prstGeom prst="rect">
            <a:avLst/>
          </a:prstGeom>
          <a:solidFill>
            <a:srgbClr val="3F9A59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× Segment × State Routing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82512" y="232257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 → cooperative contract mapping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82512" y="281635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Segment → portal routing rules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82512" y="33101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 associations via CMS admin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82512" y="380390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code deploy required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645152"/>
            <a:ext cx="8229600" cy="0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E6F2F8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Admin Panel (React prototype → production): three-group sidebar · draft/publish workflow · audit log · role-based access · Ariel Goldman publish rights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Constraints the Team Needs to Navigate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54864" cy="676656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96596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9264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Manny Approval Gate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69264" y="211226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changes require Manny's sign-off before going live. Manny is unavailable until approximately May 2026. Phase 1 build can proceed; launch is gated.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532888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532888"/>
            <a:ext cx="54864" cy="676656"/>
          </a:xfrm>
          <a:prstGeom prst="rect">
            <a:avLst/>
          </a:prstGeom>
          <a:solidFill>
            <a:srgbClr val="E673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71576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9264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Aperture Migration Sequencing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969264" y="286207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must be built on Aperture. Any work delivered on Weblogic first creates porting liability. Migration timeline alignment is open question #1 for the architect session.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7200" y="3282696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282696"/>
            <a:ext cx="54864" cy="676656"/>
          </a:xfrm>
          <a:prstGeom prst="rect">
            <a:avLst/>
          </a:prstGeom>
          <a:solidFill>
            <a:srgbClr val="007AB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46557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9264" y="3328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PMO 5000 — Existing-Customer Routing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969264" y="361188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 for existing B2B accounts is architecturally unresolved. Current lean: apply new routing to new sign-ups only; leave existing accounts unchanged. Not formally closed.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57200" y="4032504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4032504"/>
            <a:ext cx="54864" cy="676656"/>
          </a:xfrm>
          <a:prstGeom prst="rect">
            <a:avLst/>
          </a:prstGeom>
          <a:solidFill>
            <a:srgbClr val="3F9A5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21538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9264" y="4078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BDBTools Preserved Read-Only in Phase 1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69264" y="436168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~350-parameter portal management tool (Sam Herman) is read-only in Phase 1. The JSON layer wraps above it. Full parameter migration is Phase 2 scope.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to Phase 1 Launch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64208" y="1572768"/>
            <a:ext cx="36576" cy="301752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499616" y="1609344"/>
            <a:ext cx="347472" cy="347472"/>
          </a:xfrm>
          <a:prstGeom prst="oval">
            <a:avLst/>
          </a:prstGeom>
          <a:solidFill>
            <a:srgbClr val="99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184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93392" y="158191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 Discussion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93392" y="181965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confirm Aperture readiness, migration sequencing, and JSON routing model. State/contract routing ownership decided.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99616" y="2121408"/>
            <a:ext cx="347472" cy="347472"/>
          </a:xfrm>
          <a:prstGeom prst="oval">
            <a:avLst/>
          </a:prstGeom>
          <a:solidFill>
            <a:srgbClr val="99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305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Apr–May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93392" y="209397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Sizing &amp; Alignment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93392" y="23317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with UX leadership and designers to size the sign-up flow, segment pages, and CMS admin panel. Effort estimate produced.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99616" y="2633472"/>
            <a:ext cx="347472" cy="347472"/>
          </a:xfrm>
          <a:prstGeom prst="oval">
            <a:avLst/>
          </a:prstGeom>
          <a:solidFill>
            <a:srgbClr val="007AB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4261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93392" y="26060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 &amp; Requirements Refinement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93392" y="284378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iterated with stakeholder feedback. Requirements locked with Ariel Goldman, Brendan Bagley, and B2B team.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99616" y="3145536"/>
            <a:ext cx="347472" cy="347472"/>
          </a:xfrm>
          <a:prstGeom prst="oval">
            <a:avLst/>
          </a:prstGeom>
          <a:solidFill>
            <a:srgbClr val="007AB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54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93392" y="311810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Design Mockups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93392" y="335584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Linder produces high-fidelity designs for sign-up flow, hub landing, segment pages, contract pages, and CMS admin panel.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99616" y="3657600"/>
            <a:ext cx="347472" cy="347472"/>
          </a:xfrm>
          <a:prstGeom prst="oval">
            <a:avLst/>
          </a:prstGeom>
          <a:solidFill>
            <a:srgbClr val="3F9A5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6674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F9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93392" y="363016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 Approval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93392" y="386791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Goldman and Manny sign off on customer-facing designs. Manny availability (~May 2026) gates this milestone.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99616" y="4169664"/>
            <a:ext cx="347472" cy="347472"/>
          </a:xfrm>
          <a:prstGeom prst="oval">
            <a:avLst/>
          </a:prstGeom>
          <a:solidFill>
            <a:srgbClr val="3F9A5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7880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F9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93392" y="414223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Handoff to Project Management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93392" y="437997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designs and requirements handed to PM for sprint planning, ticket grooming, and developer assignment.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We Need to Answer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54864" cy="51206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984248"/>
            <a:ext cx="1005840" cy="256032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984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192938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sequencing: which Phase 1 components land on Aperture first vs. Weblogic? Who owns the migration timeline and how does it gate our build start?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50592"/>
            <a:ext cx="54864" cy="51206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2560320"/>
            <a:ext cx="1005840" cy="256032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560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250545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State/contract routing location: does routing config live in the new JSON/CMS tool, or remain in BDBTools? Two options need to be compared before we finalize the data model.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26664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26664"/>
            <a:ext cx="54864" cy="51206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136392"/>
            <a:ext cx="1005840" cy="256032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36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308152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authentication: leverage existing B&amp;H admin infrastructure or a standalone system?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02736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02736"/>
            <a:ext cx="54864" cy="512064"/>
          </a:xfrm>
          <a:prstGeom prst="rect">
            <a:avLst/>
          </a:prstGeom>
          <a:solidFill>
            <a:srgbClr val="007AB8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3712464"/>
            <a:ext cx="1005840" cy="256032"/>
          </a:xfrm>
          <a:prstGeom prst="rect">
            <a:avLst/>
          </a:prstGeom>
          <a:solidFill>
            <a:srgbClr val="007AB8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124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91640" y="365760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sizing: what is the design effort for the qualification-first sign-up flow, hub landing redesign, segment pages, and CMS admin panel?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78808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178808"/>
            <a:ext cx="54864" cy="512064"/>
          </a:xfrm>
          <a:prstGeom prst="rect">
            <a:avLst/>
          </a:prstGeom>
          <a:solidFill>
            <a:srgbClr val="3F9A59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4288536"/>
            <a:ext cx="1005840" cy="256032"/>
          </a:xfrm>
          <a:prstGeom prst="rect">
            <a:avLst/>
          </a:prstGeom>
          <a:solidFill>
            <a:srgbClr val="3F9A59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42885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91640" y="423367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readiness: once UX designs and requirements are approved, what is the lead time to first sprint? What grooming format does the team prefer?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This Room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94360" y="2542032"/>
            <a:ext cx="2606040" cy="21031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542032"/>
            <a:ext cx="2606040" cy="5486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2697480"/>
            <a:ext cx="384048" cy="384048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69748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354787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Aperture migration sequencing for Phase 1. Align on JSON routing model and CMS auth approach at the April 14 architect session.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2542032"/>
            <a:ext cx="2606040" cy="21031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2" name="Shape 9"/>
          <p:cNvSpPr/>
          <p:nvPr/>
        </p:nvSpPr>
        <p:spPr>
          <a:xfrm>
            <a:off x="3429000" y="2542032"/>
            <a:ext cx="2606040" cy="54864"/>
          </a:xfrm>
          <a:prstGeom prst="rect">
            <a:avLst/>
          </a:prstGeom>
          <a:solidFill>
            <a:srgbClr val="007AB8"/>
          </a:solidFill>
          <a:ln/>
        </p:spPr>
      </p:sp>
      <p:sp>
        <p:nvSpPr>
          <p:cNvPr id="13" name="Shape 10"/>
          <p:cNvSpPr/>
          <p:nvPr/>
        </p:nvSpPr>
        <p:spPr>
          <a:xfrm>
            <a:off x="3593592" y="2697480"/>
            <a:ext cx="384048" cy="384048"/>
          </a:xfrm>
          <a:prstGeom prst="rect">
            <a:avLst/>
          </a:prstGeom>
          <a:solidFill>
            <a:srgbClr val="007AB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6974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3592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Leadership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93592" y="354787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sizing session with Jay Linder and design team. Confirm resource availability for sign-up flow, hub landing, and CMS admin panel designs.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63640" y="2542032"/>
            <a:ext cx="2606040" cy="21031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8" name="Shape 14"/>
          <p:cNvSpPr/>
          <p:nvPr/>
        </p:nvSpPr>
        <p:spPr>
          <a:xfrm>
            <a:off x="6263640" y="2542032"/>
            <a:ext cx="2606040" cy="54864"/>
          </a:xfrm>
          <a:prstGeom prst="rect">
            <a:avLst/>
          </a:prstGeom>
          <a:solidFill>
            <a:srgbClr val="3F9A59"/>
          </a:solidFill>
          <a:ln/>
        </p:spPr>
      </p:sp>
      <p:sp>
        <p:nvSpPr>
          <p:cNvPr id="19" name="Shape 15"/>
          <p:cNvSpPr/>
          <p:nvPr/>
        </p:nvSpPr>
        <p:spPr>
          <a:xfrm>
            <a:off x="6428232" y="2697480"/>
            <a:ext cx="384048" cy="384048"/>
          </a:xfrm>
          <a:prstGeom prst="rect">
            <a:avLst/>
          </a:prstGeom>
          <a:solidFill>
            <a:srgbClr val="3F9A5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69748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28232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Management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28232" y="354787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grooming and sprint planning format. Align on handoff readiness criteria so PM can begin planning as soon as designs are approved.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19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Hub Modernization – Phase 1</dc:title>
  <dc:subject>PptxGenJS Presentation</dc:subject>
  <dc:creator>PptxGenJS</dc:creator>
  <cp:lastModifiedBy>PptxGenJS</cp:lastModifiedBy>
  <cp:revision>1</cp:revision>
  <dcterms:created xsi:type="dcterms:W3CDTF">2026-04-14T13:26:34Z</dcterms:created>
  <dcterms:modified xsi:type="dcterms:W3CDTF">2026-04-14T13:26:34Z</dcterms:modified>
</cp:coreProperties>
</file>